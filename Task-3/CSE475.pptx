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659" r:id="rId2"/>
    <p:sldMasterId id="2147483664" r:id="rId3"/>
  </p:sldMasterIdLst>
  <p:notesMasterIdLst>
    <p:notesMasterId r:id="rId15"/>
  </p:notesMasterIdLst>
  <p:handoutMasterIdLst>
    <p:handoutMasterId r:id="rId16"/>
  </p:handoutMasterIdLst>
  <p:sldIdLst>
    <p:sldId id="256" r:id="rId4"/>
    <p:sldId id="257" r:id="rId5"/>
    <p:sldId id="294" r:id="rId6"/>
    <p:sldId id="258" r:id="rId7"/>
    <p:sldId id="295" r:id="rId8"/>
    <p:sldId id="292" r:id="rId9"/>
    <p:sldId id="305" r:id="rId10"/>
    <p:sldId id="306" r:id="rId11"/>
    <p:sldId id="272" r:id="rId12"/>
    <p:sldId id="289" r:id="rId13"/>
    <p:sldId id="296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D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howGuides="1">
      <p:cViewPr>
        <p:scale>
          <a:sx n="100" d="100"/>
          <a:sy n="100" d="100"/>
        </p:scale>
        <p:origin x="1085" y="58"/>
      </p:cViewPr>
      <p:guideLst>
        <p:guide orient="horz" pos="18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-319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1E857-FA80-42FD-B162-41B2A2E1E1C0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5F6BE-D3C4-49DD-B713-542D433C8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008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3F161-EA16-4540-AD6C-54BDB9687A6A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AE9C2-5881-4A10-94B1-2302DB879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35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AE9C2-5881-4A10-94B1-2302DB8795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62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AE9C2-5881-4A10-94B1-2302DB8795F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141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981" y="543613"/>
            <a:ext cx="1740110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C64DFBE-D021-44BF-84ED-0689DA9792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969062"/>
            <a:ext cx="9143999" cy="432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1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8088BE3-25C4-4317-8E12-7D1A9D090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417417"/>
            <a:ext cx="9143998" cy="54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TEMPLATES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764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-1" y="3003550"/>
            <a:ext cx="9144001" cy="2139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55576" y="2157550"/>
            <a:ext cx="1692000" cy="169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0" y="51471"/>
            <a:ext cx="9144000" cy="64807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AFCF31D-C6CE-4C4C-AE5A-2A4429FEF2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699566"/>
            <a:ext cx="9143999" cy="216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This text con be replaced with your own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25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046842" y="807554"/>
            <a:ext cx="7050317" cy="352839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403648" y="1131590"/>
            <a:ext cx="6336704" cy="28803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1043608" y="2924944"/>
            <a:ext cx="7056784" cy="533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043608" y="3513851"/>
            <a:ext cx="7056784" cy="263475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This text can be replaced with your own text</a:t>
            </a:r>
            <a:endParaRPr lang="ko-KR" altLang="en-US" dirty="0"/>
          </a:p>
        </p:txBody>
      </p:sp>
      <p:pic>
        <p:nvPicPr>
          <p:cNvPr id="3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915" y="1318423"/>
            <a:ext cx="985234" cy="146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713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1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691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584000" y="25735"/>
            <a:ext cx="7560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pic>
        <p:nvPicPr>
          <p:cNvPr id="8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20" y="3332174"/>
            <a:ext cx="1087451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 userDrawn="1"/>
        </p:nvCxnSpPr>
        <p:spPr>
          <a:xfrm>
            <a:off x="711746" y="4952174"/>
            <a:ext cx="84322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14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76326" y="1262118"/>
            <a:ext cx="1584176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9108504" cy="82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179884" y="1352118"/>
            <a:ext cx="144016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723433" y="1437715"/>
            <a:ext cx="1296144" cy="1619999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516784" y="1352118"/>
            <a:ext cx="144016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3226" y="1442119"/>
            <a:ext cx="1296144" cy="1619999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12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67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80000" y="179550"/>
            <a:ext cx="8784000" cy="478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844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720000" y="442505"/>
            <a:ext cx="7704000" cy="42813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75856" y="0"/>
            <a:ext cx="259228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230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0" y="1635646"/>
            <a:ext cx="4217146" cy="2310733"/>
          </a:xfrm>
          <a:prstGeom prst="rect">
            <a:avLst/>
          </a:prstGeom>
        </p:spPr>
      </p:pic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7764" y="1731146"/>
            <a:ext cx="2952328" cy="19057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8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72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555776" y="1263998"/>
            <a:ext cx="2772000" cy="34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33752" y="1263998"/>
            <a:ext cx="1835776" cy="1728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733752" y="2991806"/>
            <a:ext cx="1835776" cy="17281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3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81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411760" y="3939902"/>
            <a:ext cx="2160240" cy="12035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4572000" y="0"/>
            <a:ext cx="2160240" cy="12035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11760" y="0"/>
            <a:ext cx="216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572240" y="1183500"/>
            <a:ext cx="216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871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026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11484"/>
            <a:ext cx="3394308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75616" y="1443924"/>
            <a:ext cx="3104295" cy="2135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7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78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 userDrawn="1"/>
        </p:nvSpPr>
        <p:spPr>
          <a:xfrm>
            <a:off x="0" y="2890433"/>
            <a:ext cx="9144000" cy="22530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20696" y="1552933"/>
            <a:ext cx="1298551" cy="2242953"/>
            <a:chOff x="2627784" y="1825002"/>
            <a:chExt cx="1198166" cy="2069560"/>
          </a:xfrm>
        </p:grpSpPr>
        <p:sp>
          <p:nvSpPr>
            <p:cNvPr id="9" name="Rounded Rectangle 8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13" name="Oval 12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Rounded Rectangle 13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" name="Picture Placeholder 2"/>
          <p:cNvSpPr>
            <a:spLocks noGrp="1"/>
          </p:cNvSpPr>
          <p:nvPr userDrawn="1">
            <p:ph type="pic" idx="1" hasCustomPrompt="1"/>
          </p:nvPr>
        </p:nvSpPr>
        <p:spPr>
          <a:xfrm>
            <a:off x="994588" y="1742834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2910527" y="2088604"/>
            <a:ext cx="1298551" cy="2242953"/>
            <a:chOff x="2627784" y="1825002"/>
            <a:chExt cx="1198166" cy="2069560"/>
          </a:xfrm>
        </p:grpSpPr>
        <p:sp>
          <p:nvSpPr>
            <p:cNvPr id="17" name="Rounded Rectangle 16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20" name="Oval 19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Rounded Rectangle 20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984419" y="2291784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4900358" y="1383368"/>
            <a:ext cx="1298551" cy="2242953"/>
            <a:chOff x="2627784" y="1825002"/>
            <a:chExt cx="1198166" cy="2069560"/>
          </a:xfrm>
        </p:grpSpPr>
        <p:sp>
          <p:nvSpPr>
            <p:cNvPr id="24" name="Rounded Rectangle 23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27" name="Oval 26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Rounded Rectangle 27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9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974250" y="1586548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6890188" y="2345021"/>
            <a:ext cx="1298551" cy="2242953"/>
            <a:chOff x="2627784" y="1825002"/>
            <a:chExt cx="1198166" cy="2069560"/>
          </a:xfrm>
        </p:grpSpPr>
        <p:sp>
          <p:nvSpPr>
            <p:cNvPr id="31" name="Rounded Rectangle 30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34" name="Oval 33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Rounded Rectangle 34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964080" y="2548201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7" name="Rectangle 36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41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119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2" name="Rounded Rectangle 11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lt"/>
            </a:endParaRPr>
          </a:p>
        </p:txBody>
      </p:sp>
      <p:sp>
        <p:nvSpPr>
          <p:cNvPr id="15" name="Rounded Rectangle 14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Half Frame 15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0292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2699792" y="1851670"/>
            <a:ext cx="6444208" cy="144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Straight Arrow Connector 8"/>
          <p:cNvCxnSpPr>
            <a:stCxn id="7" idx="2"/>
          </p:cNvCxnSpPr>
          <p:nvPr userDrawn="1"/>
        </p:nvCxnSpPr>
        <p:spPr>
          <a:xfrm>
            <a:off x="711746" y="4952174"/>
            <a:ext cx="84322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131840" y="2233427"/>
            <a:ext cx="5472608" cy="39998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 b="1" baseline="0">
                <a:solidFill>
                  <a:schemeClr val="bg1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0" y="2683835"/>
            <a:ext cx="5472608" cy="197606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200" baseline="0">
                <a:solidFill>
                  <a:schemeClr val="bg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Add text</a:t>
            </a:r>
            <a:endParaRPr lang="ko-KR" altLang="en-US" dirty="0"/>
          </a:p>
        </p:txBody>
      </p:sp>
      <p:pic>
        <p:nvPicPr>
          <p:cNvPr id="7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20" y="3332174"/>
            <a:ext cx="1087451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/>
          <p:cNvCxnSpPr/>
          <p:nvPr userDrawn="1"/>
        </p:nvCxnSpPr>
        <p:spPr>
          <a:xfrm>
            <a:off x="0" y="195486"/>
            <a:ext cx="9143999" cy="0"/>
          </a:xfrm>
          <a:prstGeom prst="straightConnector1">
            <a:avLst/>
          </a:prstGeom>
          <a:ln w="127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72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35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8" r:id="rId2"/>
    <p:sldLayoutId id="214748368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137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70" r:id="rId4"/>
    <p:sldLayoutId id="2147483674" r:id="rId5"/>
    <p:sldLayoutId id="2147483673" r:id="rId6"/>
    <p:sldLayoutId id="2147483672" r:id="rId7"/>
    <p:sldLayoutId id="2147483675" r:id="rId8"/>
    <p:sldLayoutId id="2147483677" r:id="rId9"/>
    <p:sldLayoutId id="2147483676" r:id="rId10"/>
    <p:sldLayoutId id="2147483682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78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ctr" rtl="0" fontAlgn="ctr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</a:rPr>
              <a:t>Dataset of Plant-Parasitic Nematodes</a:t>
            </a:r>
          </a:p>
        </p:txBody>
      </p:sp>
    </p:spTree>
    <p:extLst>
      <p:ext uri="{BB962C8B-B14F-4D97-AF65-F5344CB8AC3E}">
        <p14:creationId xmlns:p14="http://schemas.microsoft.com/office/powerpoint/2010/main" val="280287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DD2D9"/>
                </a:solidFill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</a:rPr>
              <a:t>Plant-Parasitic Nematodes</a:t>
            </a:r>
            <a:endParaRPr lang="ko-KR" altLang="en-US" dirty="0"/>
          </a:p>
        </p:txBody>
      </p:sp>
      <p:grpSp>
        <p:nvGrpSpPr>
          <p:cNvPr id="79" name="Group 78"/>
          <p:cNvGrpSpPr/>
          <p:nvPr/>
        </p:nvGrpSpPr>
        <p:grpSpPr>
          <a:xfrm>
            <a:off x="4298598" y="1277259"/>
            <a:ext cx="538036" cy="538036"/>
            <a:chOff x="4298598" y="1406129"/>
            <a:chExt cx="538036" cy="538036"/>
          </a:xfrm>
        </p:grpSpPr>
        <p:sp>
          <p:nvSpPr>
            <p:cNvPr id="63" name="Oval 62"/>
            <p:cNvSpPr/>
            <p:nvPr/>
          </p:nvSpPr>
          <p:spPr>
            <a:xfrm>
              <a:off x="4298598" y="1406129"/>
              <a:ext cx="538036" cy="53803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387596" y="1490481"/>
              <a:ext cx="36004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Arial" pitchFamily="34" charset="0"/>
                  <a:cs typeface="Arial" pitchFamily="34" charset="0"/>
                </a:rPr>
                <a:t>1</a:t>
              </a:r>
              <a:endParaRPr lang="ko-KR" alt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4298598" y="2186236"/>
            <a:ext cx="538036" cy="538036"/>
            <a:chOff x="4298598" y="2241725"/>
            <a:chExt cx="538036" cy="538036"/>
          </a:xfrm>
        </p:grpSpPr>
        <p:sp>
          <p:nvSpPr>
            <p:cNvPr id="71" name="Oval 70"/>
            <p:cNvSpPr/>
            <p:nvPr/>
          </p:nvSpPr>
          <p:spPr>
            <a:xfrm>
              <a:off x="4298598" y="2241725"/>
              <a:ext cx="538036" cy="53803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387596" y="2326077"/>
              <a:ext cx="36004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Arial" pitchFamily="34" charset="0"/>
                  <a:cs typeface="Arial" pitchFamily="34" charset="0"/>
                </a:rPr>
                <a:t>2</a:t>
              </a:r>
              <a:endParaRPr lang="ko-KR" alt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298598" y="3095213"/>
            <a:ext cx="538036" cy="538036"/>
            <a:chOff x="4298598" y="3049560"/>
            <a:chExt cx="538036" cy="538036"/>
          </a:xfrm>
        </p:grpSpPr>
        <p:sp>
          <p:nvSpPr>
            <p:cNvPr id="72" name="Oval 71"/>
            <p:cNvSpPr/>
            <p:nvPr/>
          </p:nvSpPr>
          <p:spPr>
            <a:xfrm>
              <a:off x="4298598" y="3049560"/>
              <a:ext cx="538036" cy="53803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387596" y="3133912"/>
              <a:ext cx="36004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Arial" pitchFamily="34" charset="0"/>
                  <a:cs typeface="Arial" pitchFamily="34" charset="0"/>
                </a:rPr>
                <a:t>3</a:t>
              </a:r>
              <a:endParaRPr lang="ko-KR" alt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298598" y="4004190"/>
            <a:ext cx="538036" cy="538036"/>
            <a:chOff x="4298598" y="3857396"/>
            <a:chExt cx="538036" cy="538036"/>
          </a:xfrm>
        </p:grpSpPr>
        <p:sp>
          <p:nvSpPr>
            <p:cNvPr id="73" name="Oval 72"/>
            <p:cNvSpPr/>
            <p:nvPr/>
          </p:nvSpPr>
          <p:spPr>
            <a:xfrm>
              <a:off x="4298598" y="3857396"/>
              <a:ext cx="538036" cy="53803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387596" y="3941748"/>
              <a:ext cx="36004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Arial" pitchFamily="34" charset="0"/>
                  <a:cs typeface="Arial" pitchFamily="34" charset="0"/>
                </a:rPr>
                <a:t>4</a:t>
              </a:r>
              <a:endParaRPr lang="ko-KR" alt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4924242" y="1223112"/>
            <a:ext cx="34997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buNone/>
            </a:pPr>
            <a:r>
              <a:rPr lang="en-US" sz="1400" b="0" dirty="0">
                <a:effectLst/>
                <a:latin typeface="Times New Roman" panose="02020603050405020304" pitchFamily="18" charset="0"/>
              </a:rPr>
              <a:t>Name : </a:t>
            </a:r>
            <a:r>
              <a:rPr lang="en-US" sz="1400" b="0" dirty="0" err="1">
                <a:effectLst/>
                <a:latin typeface="Times New Roman" panose="02020603050405020304" pitchFamily="18" charset="0"/>
              </a:rPr>
              <a:t>Marjuk</a:t>
            </a:r>
            <a:r>
              <a:rPr lang="en-US" sz="1400" b="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400" b="0" dirty="0" err="1">
                <a:effectLst/>
                <a:latin typeface="Times New Roman" panose="02020603050405020304" pitchFamily="18" charset="0"/>
              </a:rPr>
              <a:t>Ibna</a:t>
            </a:r>
            <a:r>
              <a:rPr lang="en-US" sz="1400" b="0" dirty="0">
                <a:effectLst/>
                <a:latin typeface="Times New Roman" panose="02020603050405020304" pitchFamily="18" charset="0"/>
              </a:rPr>
              <a:t> Belated</a:t>
            </a:r>
          </a:p>
          <a:p>
            <a:pPr fontAlgn="ctr"/>
            <a:r>
              <a:rPr lang="en-US" sz="1400" b="0" dirty="0">
                <a:effectLst/>
                <a:latin typeface="Times New Roman" panose="02020603050405020304" pitchFamily="18" charset="0"/>
              </a:rPr>
              <a:t> ID    : 2022-1-60-383</a:t>
            </a:r>
          </a:p>
          <a:p>
            <a:pPr rtl="0" fontAlgn="ctr">
              <a:buNone/>
            </a:pPr>
            <a:endParaRPr lang="en-US" sz="1200" b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924242" y="2132089"/>
            <a:ext cx="3499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buNone/>
            </a:pPr>
            <a:r>
              <a:rPr lang="en-US" sz="1400" b="0" dirty="0">
                <a:effectLst/>
                <a:latin typeface="Times New Roman" panose="02020603050405020304" pitchFamily="18" charset="0"/>
              </a:rPr>
              <a:t>Name : Ripon Hasan</a:t>
            </a:r>
          </a:p>
          <a:p>
            <a:pPr fontAlgn="ctr"/>
            <a:r>
              <a:rPr lang="en-US" sz="1400" b="0" dirty="0">
                <a:effectLst/>
                <a:latin typeface="Times New Roman" panose="02020603050405020304" pitchFamily="18" charset="0"/>
              </a:rPr>
              <a:t> ID    : 2022-1-60-054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42" y="3041066"/>
            <a:ext cx="3499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buNone/>
            </a:pPr>
            <a:r>
              <a:rPr lang="en-US" sz="1400" b="0" dirty="0">
                <a:effectLst/>
                <a:latin typeface="Times New Roman" panose="02020603050405020304" pitchFamily="18" charset="0"/>
              </a:rPr>
              <a:t>Name : </a:t>
            </a:r>
            <a:r>
              <a:rPr lang="en-US" sz="1400" b="0" dirty="0" err="1">
                <a:effectLst/>
                <a:latin typeface="Times New Roman" panose="02020603050405020304" pitchFamily="18" charset="0"/>
              </a:rPr>
              <a:t>Sharifuzzaman</a:t>
            </a:r>
            <a:r>
              <a:rPr lang="en-US" sz="1400" b="0" dirty="0">
                <a:effectLst/>
                <a:latin typeface="Times New Roman" panose="02020603050405020304" pitchFamily="18" charset="0"/>
              </a:rPr>
              <a:t> Mazumder</a:t>
            </a:r>
          </a:p>
          <a:p>
            <a:pPr fontAlgn="ctr"/>
            <a:r>
              <a:rPr lang="en-US" sz="1400" b="0" dirty="0">
                <a:effectLst/>
                <a:latin typeface="Times New Roman" panose="02020603050405020304" pitchFamily="18" charset="0"/>
              </a:rPr>
              <a:t> ID    : 2022-1-60-003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24242" y="3950043"/>
            <a:ext cx="34997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buNone/>
            </a:pPr>
            <a:r>
              <a:rPr lang="en-US" sz="1400" b="0" dirty="0">
                <a:effectLst/>
                <a:latin typeface="Times New Roman" panose="02020603050405020304" pitchFamily="18" charset="0"/>
              </a:rPr>
              <a:t>Name : </a:t>
            </a:r>
            <a:r>
              <a:rPr lang="en-US" sz="1400" b="0" dirty="0" err="1">
                <a:effectLst/>
                <a:latin typeface="Times New Roman" panose="02020603050405020304" pitchFamily="18" charset="0"/>
              </a:rPr>
              <a:t>Moumita</a:t>
            </a:r>
            <a:r>
              <a:rPr lang="en-US" sz="1400" b="0" dirty="0">
                <a:effectLst/>
                <a:latin typeface="Times New Roman" panose="02020603050405020304" pitchFamily="18" charset="0"/>
              </a:rPr>
              <a:t> Akter</a:t>
            </a:r>
          </a:p>
          <a:p>
            <a:pPr fontAlgn="ctr"/>
            <a:r>
              <a:rPr lang="en-US" sz="1400" b="0" dirty="0">
                <a:effectLst/>
                <a:latin typeface="Times New Roman" panose="02020603050405020304" pitchFamily="18" charset="0"/>
              </a:rPr>
              <a:t> ID    : 2022-1-60-105</a:t>
            </a:r>
          </a:p>
          <a:p>
            <a:r>
              <a:rPr lang="en-US" altLang="ko-KR" sz="1200" dirty="0">
                <a:latin typeface="Arial" pitchFamily="34" charset="0"/>
                <a:cs typeface="Arial" pitchFamily="34" charset="0"/>
              </a:rPr>
              <a:t>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27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808" y="1923679"/>
            <a:ext cx="6192688" cy="1080120"/>
          </a:xfrm>
        </p:spPr>
        <p:txBody>
          <a:bodyPr/>
          <a:lstStyle/>
          <a:p>
            <a:r>
              <a:rPr lang="en-US" sz="2800" b="1" dirty="0"/>
              <a:t>What is Self-Supervised Learning?</a:t>
            </a:r>
            <a:endParaRPr lang="ko-KR" altLang="en-US" sz="2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5F3D49-0769-FD91-2747-518F32D06B92}"/>
              </a:ext>
            </a:extLst>
          </p:cNvPr>
          <p:cNvSpPr txBox="1"/>
          <p:nvPr/>
        </p:nvSpPr>
        <p:spPr>
          <a:xfrm>
            <a:off x="1475656" y="3507854"/>
            <a:ext cx="7920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Normal ML needs </a:t>
            </a:r>
            <a:r>
              <a:rPr lang="en-US" b="1" dirty="0"/>
              <a:t>labels</a:t>
            </a:r>
            <a:r>
              <a:rPr lang="en-US" dirty="0"/>
              <a:t> (e.g., “This is a cat”).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SSL</a:t>
            </a:r>
            <a:r>
              <a:rPr lang="en-US" dirty="0"/>
              <a:t> learns </a:t>
            </a:r>
            <a:r>
              <a:rPr lang="en-US" b="1" dirty="0"/>
              <a:t>without labels</a:t>
            </a:r>
            <a:r>
              <a:rPr lang="en-US" dirty="0"/>
              <a:t> — it makes its own learning task.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Like a student who teaches themselves using puzzles or mirror games.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Goal:</a:t>
            </a:r>
            <a:r>
              <a:rPr lang="en-US" dirty="0"/>
              <a:t> Learn useful image features automatically.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36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/>
              <a:t>Why SSL for Nematode Dataset?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94425" y="1275558"/>
            <a:ext cx="609223" cy="609223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794425" y="2217798"/>
            <a:ext cx="609223" cy="609223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21"/>
          <p:cNvSpPr>
            <a:spLocks noChangeAspect="1"/>
          </p:cNvSpPr>
          <p:nvPr/>
        </p:nvSpPr>
        <p:spPr>
          <a:xfrm>
            <a:off x="936395" y="1416169"/>
            <a:ext cx="325283" cy="32800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Rectangle 9"/>
          <p:cNvSpPr/>
          <p:nvPr/>
        </p:nvSpPr>
        <p:spPr>
          <a:xfrm>
            <a:off x="952883" y="2385597"/>
            <a:ext cx="292306" cy="27362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Oval 15"/>
          <p:cNvSpPr/>
          <p:nvPr/>
        </p:nvSpPr>
        <p:spPr>
          <a:xfrm>
            <a:off x="4864933" y="1275558"/>
            <a:ext cx="609223" cy="609223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Oval 16"/>
          <p:cNvSpPr/>
          <p:nvPr/>
        </p:nvSpPr>
        <p:spPr>
          <a:xfrm>
            <a:off x="4864933" y="2217798"/>
            <a:ext cx="609223" cy="609223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Donut 24"/>
          <p:cNvSpPr/>
          <p:nvPr/>
        </p:nvSpPr>
        <p:spPr>
          <a:xfrm>
            <a:off x="4997870" y="1407097"/>
            <a:ext cx="343349" cy="346144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ardrop 6"/>
          <p:cNvSpPr/>
          <p:nvPr/>
        </p:nvSpPr>
        <p:spPr>
          <a:xfrm rot="8100000">
            <a:off x="5020339" y="2373204"/>
            <a:ext cx="298411" cy="298411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45C28-BE8E-AC63-7D1C-4B0E55183C5A}"/>
              </a:ext>
            </a:extLst>
          </p:cNvPr>
          <p:cNvSpPr txBox="1"/>
          <p:nvPr/>
        </p:nvSpPr>
        <p:spPr>
          <a:xfrm>
            <a:off x="1547664" y="1347614"/>
            <a:ext cx="2731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~1,000 microscope images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DB228-5807-67DF-791D-12202844F557}"/>
              </a:ext>
            </a:extLst>
          </p:cNvPr>
          <p:cNvSpPr txBox="1"/>
          <p:nvPr/>
        </p:nvSpPr>
        <p:spPr>
          <a:xfrm>
            <a:off x="5652120" y="1347614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 to label all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C8658-ABEC-6947-69ED-46C09C973420}"/>
              </a:ext>
            </a:extLst>
          </p:cNvPr>
          <p:cNvSpPr txBox="1"/>
          <p:nvPr/>
        </p:nvSpPr>
        <p:spPr>
          <a:xfrm>
            <a:off x="1492136" y="2387587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Many lighting or angle changes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BF170-450B-893A-332A-A7FDCBA9AC5F}"/>
              </a:ext>
            </a:extLst>
          </p:cNvPr>
          <p:cNvSpPr txBox="1"/>
          <p:nvPr/>
        </p:nvSpPr>
        <p:spPr>
          <a:xfrm>
            <a:off x="5652120" y="2311401"/>
            <a:ext cx="3384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SSL helps the model </a:t>
            </a:r>
            <a:r>
              <a:rPr lang="en-US" b="1" dirty="0"/>
              <a:t>learn patterns (shape, texture, edges)</a:t>
            </a:r>
            <a:r>
              <a:rPr lang="en-US" dirty="0"/>
              <a:t> before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426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dirty="0"/>
              <a:t>Diagram :</a:t>
            </a:r>
            <a:r>
              <a:rPr lang="en-US" dirty="0" err="1"/>
              <a:t>SimCLR</a:t>
            </a:r>
            <a:r>
              <a:rPr lang="en-US" dirty="0"/>
              <a:t> &amp; BYOL &amp;</a:t>
            </a:r>
            <a:r>
              <a:rPr lang="en-US" b="1" dirty="0"/>
              <a:t> </a:t>
            </a:r>
            <a:r>
              <a:rPr lang="en-US" dirty="0"/>
              <a:t>MAE </a:t>
            </a:r>
            <a:endParaRPr lang="ko-KR" altLang="en-US" dirty="0"/>
          </a:p>
        </p:txBody>
      </p:sp>
      <p:pic>
        <p:nvPicPr>
          <p:cNvPr id="6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60E2DCB0-9CBA-5C8C-9200-676905A0E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87574"/>
            <a:ext cx="8136904" cy="2592288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0C72C1-491D-E75F-946F-1F746156A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867894"/>
            <a:ext cx="8136904" cy="8640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51977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0" y="25735"/>
            <a:ext cx="8172400" cy="77653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sz="2800" b="1" dirty="0"/>
              <a:t>Method 1: </a:t>
            </a:r>
            <a:r>
              <a:rPr lang="en-US" sz="2800" b="1" dirty="0" err="1"/>
              <a:t>SimCLR</a:t>
            </a:r>
            <a:r>
              <a:rPr lang="en-US" sz="2800" b="1" dirty="0"/>
              <a:t> (Contrastive Learning)</a:t>
            </a:r>
            <a:endParaRPr lang="ko-KR" alt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F76A2-3ED3-5C1C-2C06-3023DC20951A}"/>
              </a:ext>
            </a:extLst>
          </p:cNvPr>
          <p:cNvSpPr txBox="1"/>
          <p:nvPr/>
        </p:nvSpPr>
        <p:spPr>
          <a:xfrm>
            <a:off x="179512" y="1347614"/>
            <a:ext cx="86409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Idea:</a:t>
            </a:r>
            <a:br>
              <a:rPr lang="en-US" dirty="0"/>
            </a:br>
            <a:r>
              <a:rPr lang="en-US" dirty="0"/>
              <a:t>Show the model two different versions of the same image (cropped, rotated, brightened).It should learn they are </a:t>
            </a:r>
            <a:r>
              <a:rPr lang="en-US" b="1" dirty="0"/>
              <a:t>the same</a:t>
            </a:r>
            <a:r>
              <a:rPr lang="en-US" dirty="0"/>
              <a:t>, and other images are </a:t>
            </a:r>
            <a:r>
              <a:rPr lang="en-US" b="1" dirty="0"/>
              <a:t>different idea. </a:t>
            </a:r>
            <a:r>
              <a:rPr lang="en-US" dirty="0"/>
              <a:t>Two views → Encoder → “Pull together” same image, “Push apart” others.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Why fit: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Works well for </a:t>
            </a:r>
            <a:r>
              <a:rPr lang="en-US" b="1" dirty="0"/>
              <a:t>texture-rich</a:t>
            </a:r>
            <a:r>
              <a:rPr lang="en-US" dirty="0"/>
              <a:t> images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Helps model see </a:t>
            </a:r>
            <a:r>
              <a:rPr lang="en-US" b="1" dirty="0"/>
              <a:t>details</a:t>
            </a:r>
            <a:r>
              <a:rPr lang="en-US" dirty="0"/>
              <a:t> under different conditions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79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0" y="25734"/>
            <a:ext cx="8172400" cy="1033847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sz="2800" b="1" dirty="0"/>
              <a:t>Method 2: BYOL (Bootstrap Your Own Latent)</a:t>
            </a:r>
            <a:br>
              <a:rPr lang="en-US" sz="3600" b="1" dirty="0"/>
            </a:br>
            <a:endParaRPr lang="ko-KR" alt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F76A2-3ED3-5C1C-2C06-3023DC20951A}"/>
              </a:ext>
            </a:extLst>
          </p:cNvPr>
          <p:cNvSpPr txBox="1"/>
          <p:nvPr/>
        </p:nvSpPr>
        <p:spPr>
          <a:xfrm>
            <a:off x="179512" y="1347614"/>
            <a:ext cx="568863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Idea:</a:t>
            </a:r>
            <a:br>
              <a:rPr lang="en-US" dirty="0"/>
            </a:br>
            <a:r>
              <a:rPr lang="en-US" dirty="0"/>
              <a:t>Two networks look at two views of the same image.</a:t>
            </a:r>
            <a:br>
              <a:rPr lang="en-US" dirty="0"/>
            </a:br>
            <a:r>
              <a:rPr lang="en-US" dirty="0"/>
              <a:t>One learns to </a:t>
            </a:r>
            <a:r>
              <a:rPr lang="en-US" b="1" dirty="0"/>
              <a:t>predict</a:t>
            </a:r>
            <a:r>
              <a:rPr lang="en-US" dirty="0"/>
              <a:t> the other’s output — no need for negatives.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Why fit: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Great for </a:t>
            </a:r>
            <a:r>
              <a:rPr lang="en-US" b="1" dirty="0"/>
              <a:t>small datasets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Learns </a:t>
            </a:r>
            <a:r>
              <a:rPr lang="en-US" b="1" dirty="0"/>
              <a:t>shape &amp; structure</a:t>
            </a:r>
            <a:r>
              <a:rPr lang="en-US" dirty="0"/>
              <a:t> clearly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No large batch size needed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34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0" y="25735"/>
            <a:ext cx="8172400" cy="1177864"/>
          </a:xfrm>
          <a:prstGeom prst="rect">
            <a:avLst/>
          </a:prstGeom>
        </p:spPr>
        <p:txBody>
          <a:bodyPr/>
          <a:lstStyle/>
          <a:p>
            <a:r>
              <a:rPr lang="en-US" altLang="ko-KR" sz="2800" dirty="0"/>
              <a:t> </a:t>
            </a:r>
            <a:r>
              <a:rPr lang="en-US" sz="2800" b="1" dirty="0"/>
              <a:t>Method 3: MAE (Masked Autoencoder)</a:t>
            </a:r>
            <a:br>
              <a:rPr lang="en-US" sz="3600" b="1" dirty="0"/>
            </a:br>
            <a:endParaRPr lang="ko-KR" alt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F76A2-3ED3-5C1C-2C06-3023DC20951A}"/>
              </a:ext>
            </a:extLst>
          </p:cNvPr>
          <p:cNvSpPr txBox="1"/>
          <p:nvPr/>
        </p:nvSpPr>
        <p:spPr>
          <a:xfrm>
            <a:off x="179512" y="1347614"/>
            <a:ext cx="86409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Idea:</a:t>
            </a:r>
            <a:br>
              <a:rPr lang="en-US" dirty="0"/>
            </a:br>
            <a:r>
              <a:rPr lang="en-US" dirty="0"/>
              <a:t>Hide parts of the image and let the model </a:t>
            </a:r>
            <a:r>
              <a:rPr lang="en-US" b="1" dirty="0"/>
              <a:t>rebuild the missing pieces</a:t>
            </a:r>
            <a:r>
              <a:rPr lang="en-US" dirty="0"/>
              <a:t> — like solving a jigsaw puzzle.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idea:</a:t>
            </a:r>
            <a:br>
              <a:rPr lang="en-US" dirty="0"/>
            </a:br>
            <a:r>
              <a:rPr lang="en-US" dirty="0"/>
              <a:t>Masked image → Encoder → Decoder → Reconstructed image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Why fit: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Focuses on </a:t>
            </a:r>
            <a:r>
              <a:rPr lang="en-US" b="1" dirty="0"/>
              <a:t>edges, shape, and structure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Perfect for </a:t>
            </a:r>
            <a:r>
              <a:rPr lang="en-US" b="1" dirty="0"/>
              <a:t>microscope images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08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5949918"/>
              </p:ext>
            </p:extLst>
          </p:nvPr>
        </p:nvGraphicFramePr>
        <p:xfrm>
          <a:off x="614411" y="1554456"/>
          <a:ext cx="7740436" cy="2379624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5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Learns From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Works Best For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 err="1">
                          <a:effectLst/>
                          <a:latin typeface="Arial" panose="020B0604020202020204" pitchFamily="34" charset="0"/>
                        </a:rPr>
                        <a:t>SimCLR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Contrastive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Same vs. different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 images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Texture learning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BYOL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Predictive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Two image views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Small datasets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MAE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Masked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Rebuilding images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Shape learning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자유형 9"/>
          <p:cNvSpPr/>
          <p:nvPr/>
        </p:nvSpPr>
        <p:spPr>
          <a:xfrm>
            <a:off x="792199" y="4686271"/>
            <a:ext cx="7596000" cy="45719"/>
          </a:xfrm>
          <a:custGeom>
            <a:avLst/>
            <a:gdLst>
              <a:gd name="connsiteX0" fmla="*/ 0 w 7226300"/>
              <a:gd name="connsiteY0" fmla="*/ 0 h 0"/>
              <a:gd name="connsiteX1" fmla="*/ 7226300 w 7226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6300">
                <a:moveTo>
                  <a:pt x="0" y="0"/>
                </a:moveTo>
                <a:lnTo>
                  <a:pt x="7226300" y="0"/>
                </a:lnTo>
              </a:path>
            </a:pathLst>
          </a:custGeom>
          <a:ln w="190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</a:rPr>
              <a:t>Dataset of Plant-Parasitic Nematodes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230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88582" y="160770"/>
            <a:ext cx="3340832" cy="776530"/>
          </a:xfrm>
        </p:spPr>
        <p:txBody>
          <a:bodyPr/>
          <a:lstStyle/>
          <a:p>
            <a:r>
              <a:rPr lang="en-US" b="1" dirty="0"/>
              <a:t>Takeaway</a:t>
            </a:r>
            <a:endParaRPr lang="ko-KR" alt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1950834" y="1353234"/>
            <a:ext cx="2973998" cy="1240427"/>
            <a:chOff x="515169" y="2020164"/>
            <a:chExt cx="2669157" cy="1240427"/>
          </a:xfrm>
        </p:grpSpPr>
        <p:sp>
          <p:nvSpPr>
            <p:cNvPr id="17" name="TextBox 16"/>
            <p:cNvSpPr txBox="1"/>
            <p:nvPr/>
          </p:nvSpPr>
          <p:spPr>
            <a:xfrm>
              <a:off x="515169" y="2337261"/>
              <a:ext cx="26691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dirty="0"/>
                <a:t>SSL helps the model </a:t>
              </a:r>
              <a:r>
                <a:rPr lang="en-US" sz="1800" b="1" dirty="0"/>
                <a:t>“see” before it’s told what its seeing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5169" y="2020164"/>
              <a:ext cx="2585081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Contents A 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42415" y="1353234"/>
            <a:ext cx="2973999" cy="963428"/>
            <a:chOff x="3316273" y="2010639"/>
            <a:chExt cx="2669158" cy="963428"/>
          </a:xfrm>
        </p:grpSpPr>
        <p:sp>
          <p:nvSpPr>
            <p:cNvPr id="20" name="TextBox 19"/>
            <p:cNvSpPr txBox="1"/>
            <p:nvPr/>
          </p:nvSpPr>
          <p:spPr>
            <a:xfrm>
              <a:off x="3316273" y="2327736"/>
              <a:ext cx="26691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dirty="0"/>
                <a:t>Once pretrained, it can classify nematodes better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16274" y="2010639"/>
              <a:ext cx="2585081" cy="276999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Contents B 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50834" y="3092493"/>
            <a:ext cx="2981206" cy="963428"/>
            <a:chOff x="515169" y="2020164"/>
            <a:chExt cx="2675626" cy="963428"/>
          </a:xfrm>
        </p:grpSpPr>
        <p:sp>
          <p:nvSpPr>
            <p:cNvPr id="23" name="TextBox 22"/>
            <p:cNvSpPr txBox="1"/>
            <p:nvPr/>
          </p:nvSpPr>
          <p:spPr>
            <a:xfrm>
              <a:off x="515169" y="2337261"/>
              <a:ext cx="2675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dirty="0"/>
                <a:t>Saves </a:t>
              </a:r>
              <a:r>
                <a:rPr lang="en-US" sz="1800" b="1" dirty="0"/>
                <a:t>time</a:t>
              </a:r>
              <a:r>
                <a:rPr lang="en-US" sz="1800" dirty="0"/>
                <a:t>, </a:t>
              </a:r>
              <a:r>
                <a:rPr lang="en-US" sz="1800" b="1" dirty="0"/>
                <a:t>labels</a:t>
              </a:r>
              <a:r>
                <a:rPr lang="en-US" sz="1800" dirty="0"/>
                <a:t>, and </a:t>
              </a:r>
              <a:r>
                <a:rPr lang="en-US" sz="1800" b="1" dirty="0"/>
                <a:t>improves accuracy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5169" y="2020164"/>
              <a:ext cx="2585081" cy="276999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Contents C 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342416" y="3092493"/>
            <a:ext cx="3334040" cy="1517426"/>
            <a:chOff x="3316273" y="2010639"/>
            <a:chExt cx="2992294" cy="1517426"/>
          </a:xfrm>
        </p:grpSpPr>
        <p:sp>
          <p:nvSpPr>
            <p:cNvPr id="26" name="TextBox 25"/>
            <p:cNvSpPr txBox="1"/>
            <p:nvPr/>
          </p:nvSpPr>
          <p:spPr>
            <a:xfrm>
              <a:off x="3316273" y="2327736"/>
              <a:ext cx="29922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dirty="0"/>
                <a:t>📖 </a:t>
              </a:r>
              <a:r>
                <a:rPr lang="en-US" sz="1800" i="1" dirty="0"/>
                <a:t>References:</a:t>
              </a:r>
              <a:br>
                <a:rPr lang="en-US" sz="1800" dirty="0"/>
              </a:br>
              <a:r>
                <a:rPr lang="en-US" sz="1800" dirty="0"/>
                <a:t>Chen et al., 2020 (</a:t>
              </a:r>
              <a:r>
                <a:rPr lang="en-US" sz="1800" dirty="0" err="1"/>
                <a:t>SimCLR</a:t>
              </a:r>
              <a:r>
                <a:rPr lang="en-US" sz="1800" dirty="0"/>
                <a:t>)</a:t>
              </a:r>
              <a:br>
                <a:rPr lang="en-US" sz="1800" dirty="0"/>
              </a:br>
              <a:r>
                <a:rPr lang="en-US" sz="1800" dirty="0"/>
                <a:t>Grill et al., 2020 (BYOL)</a:t>
              </a:r>
              <a:br>
                <a:rPr lang="en-US" sz="1800" dirty="0"/>
              </a:br>
              <a:r>
                <a:rPr lang="en-US" sz="1800" dirty="0"/>
                <a:t>He et al., 2022 (MAE)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16274" y="2010639"/>
              <a:ext cx="2585081" cy="276999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Contents D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2658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+mj-lt"/>
              </a:rPr>
              <a:t>Thank you</a:t>
            </a:r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543733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DD2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DD2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3089</TotalTime>
  <Words>443</Words>
  <Application>Microsoft Office PowerPoint</Application>
  <PresentationFormat>On-screen Show (16:9)</PresentationFormat>
  <Paragraphs>77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Times New Roman</vt:lpstr>
      <vt:lpstr>Wingdings</vt:lpstr>
      <vt:lpstr>Cover and End Slide Master</vt:lpstr>
      <vt:lpstr>Contents Slide Master</vt:lpstr>
      <vt:lpstr>Section Break Slide Master</vt:lpstr>
      <vt:lpstr>Dataset of Plant-Parasitic Nematodes</vt:lpstr>
      <vt:lpstr> Plant-Parasitic Nematodes</vt:lpstr>
      <vt:lpstr>What is Self-Supervised Learning?</vt:lpstr>
      <vt:lpstr>Why SSL for Nematode Dataset?</vt:lpstr>
      <vt:lpstr> Diagram :SimCLR &amp; BYOL &amp; MAE </vt:lpstr>
      <vt:lpstr> Method 1: SimCLR (Contrastive Learning)</vt:lpstr>
      <vt:lpstr> Method 2: BYOL (Bootstrap Your Own Latent) </vt:lpstr>
      <vt:lpstr> Method 3: MAE (Masked Autoencoder) </vt:lpstr>
      <vt:lpstr> Dataset of Plant-Parasitic Nematodes</vt:lpstr>
      <vt:lpstr>Takeaway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Ripon Hassan</cp:lastModifiedBy>
  <cp:revision>121</cp:revision>
  <dcterms:created xsi:type="dcterms:W3CDTF">2016-11-07T07:00:36Z</dcterms:created>
  <dcterms:modified xsi:type="dcterms:W3CDTF">2025-11-04T17:34:25Z</dcterms:modified>
</cp:coreProperties>
</file>